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6191293f84f9d" /><Relationship Type="http://schemas.openxmlformats.org/officeDocument/2006/relationships/extended-properties" Target="/docProps/app.xml" Id="R280db3db3764440e" /><Relationship Type="http://schemas.openxmlformats.org/officeDocument/2006/relationships/officeDocument" Target="/ppt/presentation.xml" Id="R4a28aa290fb746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463c941ca482a"/>
  </p:sldMasterIdLst>
  <p:notesMasterIdLst>
    <p:notesMasterId xmlns:r="http://schemas.openxmlformats.org/officeDocument/2006/relationships" r:id="R660dd3f358054a1a"/>
  </p:notesMasterIdLst>
  <p:sldIdLst>
    <p:sldId xmlns:r="http://schemas.openxmlformats.org/officeDocument/2006/relationships" id="256" r:id="R49d5f54425a44706"/>
    <p:sldId xmlns:r="http://schemas.openxmlformats.org/officeDocument/2006/relationships" id="257" r:id="R8085305f22614f2d"/>
    <p:sldId xmlns:r="http://schemas.openxmlformats.org/officeDocument/2006/relationships" id="258" r:id="Raad7f40cd7f94f1f"/>
    <p:sldId xmlns:r="http://schemas.openxmlformats.org/officeDocument/2006/relationships" id="259" r:id="Rfb26466631c94770"/>
    <p:sldId xmlns:r="http://schemas.openxmlformats.org/officeDocument/2006/relationships" id="260" r:id="R0c2b4ff5bc0d4987"/>
    <p:sldId xmlns:r="http://schemas.openxmlformats.org/officeDocument/2006/relationships" id="261" r:id="R3ac2612ff7d748a3"/>
    <p:sldId xmlns:r="http://schemas.openxmlformats.org/officeDocument/2006/relationships" id="262" r:id="Rdbd48eb6ac46480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463c941ca482a" /><Relationship Type="http://schemas.openxmlformats.org/officeDocument/2006/relationships/theme" Target="/ppt/theme/theme1.xml" Id="Raa57b0ae4ba24edd" /><Relationship Type="http://schemas.openxmlformats.org/officeDocument/2006/relationships/notesMaster" Target="/ppt/notesMasters/notesMaster1.xml" Id="R660dd3f358054a1a" /><Relationship Type="http://schemas.openxmlformats.org/officeDocument/2006/relationships/presProps" Target="/ppt/presProps.xml" Id="Rd63e93e89c044d93" /><Relationship Type="http://schemas.openxmlformats.org/officeDocument/2006/relationships/viewProps" Target="/ppt/viewProps.xml" Id="R37064df2c64b488c" /><Relationship Type="http://schemas.openxmlformats.org/officeDocument/2006/relationships/tableStyles" Target="/ppt/tableStyles.xml" Id="Redeb3dd17d9c47eb" /><Relationship Type="http://schemas.openxmlformats.org/officeDocument/2006/relationships/slide" Target="/ppt/slides/slide1.xml" Id="R49d5f54425a44706" /><Relationship Type="http://schemas.openxmlformats.org/officeDocument/2006/relationships/slide" Target="/ppt/slides/slide2.xml" Id="R8085305f22614f2d" /><Relationship Type="http://schemas.openxmlformats.org/officeDocument/2006/relationships/slide" Target="/ppt/slides/slide3.xml" Id="Raad7f40cd7f94f1f" /><Relationship Type="http://schemas.openxmlformats.org/officeDocument/2006/relationships/slide" Target="/ppt/slides/slide4.xml" Id="Rfb26466631c94770" /><Relationship Type="http://schemas.openxmlformats.org/officeDocument/2006/relationships/slide" Target="/ppt/slides/slide5.xml" Id="R0c2b4ff5bc0d4987" /><Relationship Type="http://schemas.openxmlformats.org/officeDocument/2006/relationships/slide" Target="/ppt/slides/slide6.xml" Id="R3ac2612ff7d748a3" /><Relationship Type="http://schemas.openxmlformats.org/officeDocument/2006/relationships/slide" Target="/ppt/slides/slide7.xml" Id="Rdbd48eb6ac4648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cad52cd678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730a49bc744a2c" /><Relationship Type="http://schemas.openxmlformats.org/officeDocument/2006/relationships/notesMaster" Target="/ppt/notesMasters/notesMaster1.xml" Id="Re38ad804aec040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3e92a6362143fd" /><Relationship Type="http://schemas.openxmlformats.org/officeDocument/2006/relationships/notesMaster" Target="/ppt/notesMasters/notesMaster1.xml" Id="Re46b1688e5d644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2255c08bd94a51" /><Relationship Type="http://schemas.openxmlformats.org/officeDocument/2006/relationships/notesMaster" Target="/ppt/notesMasters/notesMaster1.xml" Id="Re3b94dc338c44b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6953e74304441b" /><Relationship Type="http://schemas.openxmlformats.org/officeDocument/2006/relationships/notesMaster" Target="/ppt/notesMasters/notesMaster1.xml" Id="Rdea9d6e8f03a4f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7f226f80f49f4" /><Relationship Type="http://schemas.openxmlformats.org/officeDocument/2006/relationships/notesMaster" Target="/ppt/notesMasters/notesMaster1.xml" Id="Rcb12ec3cc70249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87a56a1d5c4689" /><Relationship Type="http://schemas.openxmlformats.org/officeDocument/2006/relationships/notesMaster" Target="/ppt/notesMasters/notesMaster1.xml" Id="R304e9bffc96146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c4614d2e2240e2" /><Relationship Type="http://schemas.openxmlformats.org/officeDocument/2006/relationships/notesMaster" Target="/ppt/notesMasters/notesMaster1.xml" Id="R15a41718fa9b41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cf68e4263414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58935d5b4274d91" /><Relationship Type="http://schemas.openxmlformats.org/officeDocument/2006/relationships/slideLayout" Target="/ppt/slideLayouts/slideLayout2.xml" Id="R55e20dd4c29a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20dd4c29a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f3db2ac9c74ed8" /><Relationship Type="http://schemas.openxmlformats.org/officeDocument/2006/relationships/notesSlide" Target="/ppt/notesSlides/notesSlide1.xml" Id="R99e74b3be15946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bdfc72afc469c" /><Relationship Type="http://schemas.openxmlformats.org/officeDocument/2006/relationships/notesSlide" Target="/ppt/notesSlides/notesSlide2.xml" Id="Rc8b1af81543245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7c3f99069f4784" /><Relationship Type="http://schemas.openxmlformats.org/officeDocument/2006/relationships/notesSlide" Target="/ppt/notesSlides/notesSlide3.xml" Id="R71ecdb92665c44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4aa5a2e6e46a2" /><Relationship Type="http://schemas.openxmlformats.org/officeDocument/2006/relationships/notesSlide" Target="/ppt/notesSlides/notesSlide4.xml" Id="R099fbb717170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3d32c8d9624cc4" /><Relationship Type="http://schemas.openxmlformats.org/officeDocument/2006/relationships/notesSlide" Target="/ppt/notesSlides/notesSlide5.xml" Id="R6a28de87eee8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0138277de42fb" /><Relationship Type="http://schemas.openxmlformats.org/officeDocument/2006/relationships/notesSlide" Target="/ppt/notesSlides/notesSlide6.xml" Id="Rfd29d351d941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17a5b4733463f" /><Relationship Type="http://schemas.openxmlformats.org/officeDocument/2006/relationships/notesSlide" Target="/ppt/notesSlides/notesSlide7.xml" Id="R0462abb0711449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chip">
            <a:extLst xmlns:a="http://schemas.openxmlformats.org/drawingml/2006/main">
              <a:ext uri="{FF2B5EF4-FFF2-40B4-BE49-F238E27FC236}">
                <a16:creationId xmlns:a16="http://schemas.microsoft.com/office/drawing/2014/main" id="{4D9ECB52-E7FB-44FF-9F04-2A484DE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569244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2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0AE8F1BA-3500-41E1-A943-50CDF48F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"/>
            <a:ext cx="1219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66C2"/>
                </a:solidFill>
              </a:defRPr>
            </a:pPr>
            <a:r>
              <a:rPr sz="1350" b="1">
                <a:solidFill>
                  <a:srgbClr val="0A66C2"/>
                </a:solidFill>
              </a:rPr>
              <a:t>CASA VS AFFITTO</a:t>
            </a:r>
          </a:p>
        </p:txBody>
      </p:sp>
      <p:sp>
        <p:nvSpPr>
          <p:cNvPr id="3" name="cover-chip-2">
            <a:extLst xmlns:a="http://schemas.openxmlformats.org/drawingml/2006/main">
              <a:ext uri="{FF2B5EF4-FFF2-40B4-BE49-F238E27FC236}">
                <a16:creationId xmlns:a16="http://schemas.microsoft.com/office/drawing/2014/main" id="{8E5E579A-921B-49D7-B69F-614C443A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444" y="723900"/>
            <a:ext cx="1870043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</p:spPr>
      </p:sp>
      <p:sp>
        <p:nvSpPr>
          <p:cNvPr id="4" name="cover-chip-2-text">
            <a:extLst xmlns:a="http://schemas.openxmlformats.org/drawingml/2006/main">
              <a:ext uri="{FF2B5EF4-FFF2-40B4-BE49-F238E27FC236}">
                <a16:creationId xmlns:a16="http://schemas.microsoft.com/office/drawing/2014/main" id="{AB1F3709-A35D-4CC8-806E-EF2A5F6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800100"/>
            <a:ext cx="152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A623"/>
                </a:solidFill>
              </a:defRPr>
            </a:pPr>
            <a:r>
              <a:rPr sz="1350" b="1">
                <a:solidFill>
                  <a:srgbClr val="F5A623"/>
                </a:solidFill>
              </a:rPr>
              <a:t>MODELLO PRUDENTE</a:t>
            </a:r>
          </a:p>
        </p:txBody>
      </p:sp>
      <p:sp>
        <p:nvSpPr>
          <p:cNvPr id="5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417459DC-9A04-4D38-96B6-DD7784AC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8392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11827"/>
                </a:solidFill>
              </a:defRPr>
            </a:pPr>
            <a:r>
              <a:rPr sz="7200" b="1">
                <a:solidFill>
                  <a:srgbClr val="111827"/>
                </a:solidFill>
              </a:rPr>
              <a:t>Comprare casa</a:t>
            </a:r>
          </a:p>
        </p:txBody>
      </p:sp>
      <p:sp>
        <p:nvSpPr>
          <p:cNvPr id="6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E6140138-DE71-474D-AB89-4349043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88392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111827"/>
                </a:solidFill>
              </a:defRPr>
            </a:pPr>
            <a:r>
              <a:rPr sz="7200" b="1">
                <a:solidFill>
                  <a:srgbClr val="111827"/>
                </a:solidFill>
              </a:rPr>
              <a:t>conviene davvero?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4CCA17-4A2D-4737-A004-2C34D4AF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72580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Spoiler: la rata bassa non basta. Devi guardare anticipo, capitale investito e costi di uscita.</a:t>
            </a:r>
          </a:p>
        </p:txBody>
      </p:sp>
      <p:sp>
        <p:nvSpPr>
          <p:cNvPr id="8" name="cover-left-rule">
            <a:extLst xmlns:a="http://schemas.openxmlformats.org/drawingml/2006/main">
              <a:ext uri="{FF2B5EF4-FFF2-40B4-BE49-F238E27FC236}">
                <a16:creationId xmlns:a16="http://schemas.microsoft.com/office/drawing/2014/main" id="{9882F6FB-094E-4945-8224-511F2E1B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C492145C-63C6-49C6-9EF0-DCC47D0B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10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129190B0-264F-4FBE-8FDA-09553441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1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F3F6365F-4F99-4B77-AB53-2D23BA44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340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1/7</a:t>
            </a:r>
          </a:p>
        </p:txBody>
      </p:sp>
      <p:sp>
        <p:nvSpPr>
          <p:cNvPr id="12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8374A0AE-2C44-4920-92AB-EF0B4215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20" y="723900"/>
            <a:ext cx="7536180" cy="8839200"/>
          </a:xfrm>
          <a:prstGeom xmlns:a="http://schemas.openxmlformats.org/drawingml/2006/main" prst="roundRect">
            <a:avLst>
              <a:gd name="adj" fmla="val 1011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13" name="cover-visual-label">
            <a:extLst xmlns:a="http://schemas.openxmlformats.org/drawingml/2006/main">
              <a:ext uri="{FF2B5EF4-FFF2-40B4-BE49-F238E27FC236}">
                <a16:creationId xmlns:a16="http://schemas.microsoft.com/office/drawing/2014/main" id="{F2BCAD9C-228A-413D-9150-B3D843B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10490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A66C2"/>
                </a:solidFill>
              </a:defRPr>
            </a:pPr>
            <a:r>
              <a:rPr sz="1800" b="1">
                <a:solidFill>
                  <a:srgbClr val="0A66C2"/>
                </a:solidFill>
              </a:rPr>
              <a:t>BREAK-EVEN</a:t>
            </a:r>
          </a:p>
        </p:txBody>
      </p:sp>
      <p:sp>
        <p:nvSpPr>
          <p:cNvPr id="14" name="cover-visual-title">
            <a:extLst xmlns:a="http://schemas.openxmlformats.org/drawingml/2006/main">
              <a:ext uri="{FF2B5EF4-FFF2-40B4-BE49-F238E27FC236}">
                <a16:creationId xmlns:a16="http://schemas.microsoft.com/office/drawing/2014/main" id="{18E576CF-B1C7-40E2-AC7D-BBB0851C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19250"/>
            <a:ext cx="6781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827"/>
                </a:solidFill>
              </a:defRPr>
            </a:pPr>
            <a:r>
              <a:rPr sz="4650" b="1">
                <a:solidFill>
                  <a:srgbClr val="111827"/>
                </a:solidFill>
              </a:rPr>
              <a:t>non è una data magica</a:t>
            </a:r>
          </a:p>
        </p:txBody>
      </p:sp>
      <p:sp>
        <p:nvSpPr>
          <p:cNvPr id="15" name="cover-visual-rule">
            <a:extLst xmlns:a="http://schemas.openxmlformats.org/drawingml/2006/main">
              <a:ext uri="{FF2B5EF4-FFF2-40B4-BE49-F238E27FC236}">
                <a16:creationId xmlns:a16="http://schemas.microsoft.com/office/drawing/2014/main" id="{5E36CA74-37C1-436C-AD81-C4C40F5B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90800"/>
            <a:ext cx="6781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6C2"/>
          </a:solidFill>
          <a:ln xmlns:a="http://schemas.openxmlformats.org/drawingml/2006/main" w="0">
            <a:solidFill>
              <a:srgbClr val="0A66C2"/>
            </a:solidFill>
            <a:prstDash val="solid"/>
          </a:ln>
        </p:spPr>
      </p:sp>
      <p:sp>
        <p:nvSpPr>
          <p:cNvPr id="16" name="cover-stat-value">
            <a:extLst xmlns:a="http://schemas.openxmlformats.org/drawingml/2006/main">
              <a:ext uri="{FF2B5EF4-FFF2-40B4-BE49-F238E27FC236}">
                <a16:creationId xmlns:a16="http://schemas.microsoft.com/office/drawing/2014/main" id="{029633BC-759A-47B5-810C-35EDB68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914650"/>
            <a:ext cx="6781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A66C2"/>
                </a:solidFill>
              </a:defRPr>
            </a:pPr>
            <a:r>
              <a:rPr sz="6450" b="1">
                <a:solidFill>
                  <a:srgbClr val="0A66C2"/>
                </a:solidFill>
              </a:rPr>
              <a:t>X anni</a:t>
            </a:r>
          </a:p>
        </p:txBody>
      </p:sp>
      <p:sp>
        <p:nvSpPr>
          <p:cNvPr id="17" name="cover-stat-caption">
            <a:extLst xmlns:a="http://schemas.openxmlformats.org/drawingml/2006/main">
              <a:ext uri="{FF2B5EF4-FFF2-40B4-BE49-F238E27FC236}">
                <a16:creationId xmlns:a16="http://schemas.microsoft.com/office/drawing/2014/main" id="{DD3A7E97-2541-4AC7-B534-3AB60BB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96240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solo se il patrimonio batte affitto + investimento</a:t>
            </a:r>
          </a:p>
        </p:txBody>
      </p:sp>
      <p:sp>
        <p:nvSpPr>
          <p:cNvPr id="18" name="cover-stat-2-value">
            <a:extLst xmlns:a="http://schemas.openxmlformats.org/drawingml/2006/main">
              <a:ext uri="{FF2B5EF4-FFF2-40B4-BE49-F238E27FC236}">
                <a16:creationId xmlns:a16="http://schemas.microsoft.com/office/drawing/2014/main" id="{A1CA78BF-187A-4FA0-9ADC-FDE7529F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95800"/>
            <a:ext cx="6781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D93025"/>
                </a:solidFill>
              </a:defRPr>
            </a:pPr>
            <a:r>
              <a:rPr sz="6450" b="1">
                <a:solidFill>
                  <a:srgbClr val="D93025"/>
                </a:solidFill>
              </a:rPr>
              <a:t>X anni</a:t>
            </a:r>
          </a:p>
        </p:txBody>
      </p:sp>
      <p:sp>
        <p:nvSpPr>
          <p:cNvPr id="19" name="cover-stat-2-caption">
            <a:extLst xmlns:a="http://schemas.openxmlformats.org/drawingml/2006/main">
              <a:ext uri="{FF2B5EF4-FFF2-40B4-BE49-F238E27FC236}">
                <a16:creationId xmlns:a16="http://schemas.microsoft.com/office/drawing/2014/main" id="{1C179234-33FF-4DBD-B9FC-E8802045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43550"/>
            <a:ext cx="678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solo se vendendo recuperi davvero i soldi</a:t>
            </a:r>
          </a:p>
        </p:txBody>
      </p:sp>
    </p:spTree>
    <p:extLst>
      <p:ext uri="{BB962C8B-B14F-4D97-AF65-F5344CB8AC3E}">
        <p14:creationId xmlns:p14="http://schemas.microsoft.com/office/powerpoint/2010/main" val="8958291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myth-title">
            <a:extLst xmlns:a="http://schemas.openxmlformats.org/drawingml/2006/main">
              <a:ext uri="{FF2B5EF4-FFF2-40B4-BE49-F238E27FC236}">
                <a16:creationId xmlns:a16="http://schemas.microsoft.com/office/drawing/2014/main" id="{F6C05A1F-B32C-414F-AC28-687E262B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02489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Il calcolo che ci raccontiamo è troppo semplice.</a:t>
            </a:r>
          </a:p>
        </p:txBody>
      </p:sp>
      <p:sp>
        <p:nvSpPr>
          <p:cNvPr id="2" name="myth-wrong">
            <a:extLst xmlns:a="http://schemas.openxmlformats.org/drawingml/2006/main">
              <a:ext uri="{FF2B5EF4-FFF2-40B4-BE49-F238E27FC236}">
                <a16:creationId xmlns:a16="http://schemas.microsoft.com/office/drawing/2014/main" id="{23C8DB9A-29A9-46DD-A9A9-6CD1EFD6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8258175" cy="6416040"/>
          </a:xfrm>
          <a:prstGeom xmlns:a="http://schemas.openxmlformats.org/drawingml/2006/main" prst="roundRect">
            <a:avLst>
              <a:gd name="adj" fmla="val 1188"/>
            </a:avLst>
          </a:prstGeom>
          <a:solidFill xmlns:a="http://schemas.openxmlformats.org/drawingml/2006/main">
            <a:srgbClr val="FFEDEC"/>
          </a:solidFill>
        </p:spPr>
      </p:sp>
      <p:sp>
        <p:nvSpPr>
          <p:cNvPr id="3" name="myth-wrong-label">
            <a:extLst xmlns:a="http://schemas.openxmlformats.org/drawingml/2006/main">
              <a:ext uri="{FF2B5EF4-FFF2-40B4-BE49-F238E27FC236}">
                <a16:creationId xmlns:a16="http://schemas.microsoft.com/office/drawing/2014/main" id="{44231CE6-050F-4AFA-B9DC-B1379C80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754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3025"/>
                </a:solidFill>
              </a:defRPr>
            </a:pPr>
            <a:r>
              <a:rPr sz="1650" b="1">
                <a:solidFill>
                  <a:srgbClr val="D93025"/>
                </a:solidFill>
              </a:rPr>
              <a:t>Versione pigra</a:t>
            </a:r>
          </a:p>
        </p:txBody>
      </p:sp>
      <p:sp>
        <p:nvSpPr>
          <p:cNvPr id="4" name="myth-wrong-main">
            <a:extLst xmlns:a="http://schemas.openxmlformats.org/drawingml/2006/main">
              <a:ext uri="{FF2B5EF4-FFF2-40B4-BE49-F238E27FC236}">
                <a16:creationId xmlns:a16="http://schemas.microsoft.com/office/drawing/2014/main" id="{2B22166D-1CD1-4A88-AF7A-2E00BB7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75438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93025"/>
                </a:solidFill>
              </a:defRPr>
            </a:pPr>
            <a:r>
              <a:rPr sz="4350" b="1">
                <a:solidFill>
                  <a:srgbClr val="D93025"/>
                </a:solidFill>
              </a:rPr>
              <a:t>Rata mutuo più bassa dell'affitto.</a:t>
            </a:r>
          </a:p>
        </p:txBody>
      </p:sp>
      <p:sp>
        <p:nvSpPr>
          <p:cNvPr id="5" name="myth-wrong-end">
            <a:extLst xmlns:a="http://schemas.openxmlformats.org/drawingml/2006/main">
              <a:ext uri="{FF2B5EF4-FFF2-40B4-BE49-F238E27FC236}">
                <a16:creationId xmlns:a16="http://schemas.microsoft.com/office/drawing/2014/main" id="{6712F121-9326-452E-8E52-60351777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33950"/>
            <a:ext cx="7543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34495E"/>
                </a:solidFill>
              </a:defRPr>
            </a:pPr>
            <a:r>
              <a:rPr sz="2850">
                <a:solidFill>
                  <a:srgbClr val="34495E"/>
                </a:solidFill>
              </a:rPr>
              <a:t>Quindi compro.</a:t>
            </a:r>
          </a:p>
        </p:txBody>
      </p:sp>
      <p:sp>
        <p:nvSpPr>
          <p:cNvPr id="6" name="myth-right">
            <a:extLst xmlns:a="http://schemas.openxmlformats.org/drawingml/2006/main">
              <a:ext uri="{FF2B5EF4-FFF2-40B4-BE49-F238E27FC236}">
                <a16:creationId xmlns:a16="http://schemas.microsoft.com/office/drawing/2014/main" id="{ECA40E65-396C-47EF-95E5-5CC866E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09850"/>
            <a:ext cx="8258175" cy="6416040"/>
          </a:xfrm>
          <a:prstGeom xmlns:a="http://schemas.openxmlformats.org/drawingml/2006/main" prst="roundRect">
            <a:avLst>
              <a:gd name="adj" fmla="val 1188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7" name="myth-right-label">
            <a:extLst xmlns:a="http://schemas.openxmlformats.org/drawingml/2006/main">
              <a:ext uri="{FF2B5EF4-FFF2-40B4-BE49-F238E27FC236}">
                <a16:creationId xmlns:a16="http://schemas.microsoft.com/office/drawing/2014/main" id="{75637520-6655-4DF0-9BC7-A7FE1897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71800"/>
            <a:ext cx="7543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Versione onesta</a:t>
            </a:r>
          </a:p>
        </p:txBody>
      </p:sp>
      <p:sp>
        <p:nvSpPr>
          <p:cNvPr id="8" name="myth-right-main">
            <a:extLst xmlns:a="http://schemas.openxmlformats.org/drawingml/2006/main">
              <a:ext uri="{FF2B5EF4-FFF2-40B4-BE49-F238E27FC236}">
                <a16:creationId xmlns:a16="http://schemas.microsoft.com/office/drawing/2014/main" id="{96BC6CB4-9E90-4FBB-A177-20EA9860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9950"/>
            <a:ext cx="7543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Quanto resta se vendi?</a:t>
            </a:r>
          </a:p>
        </p:txBody>
      </p:sp>
      <p:sp>
        <p:nvSpPr>
          <p:cNvPr id="9" name="myth-right-end">
            <a:extLst xmlns:a="http://schemas.openxmlformats.org/drawingml/2006/main">
              <a:ext uri="{FF2B5EF4-FFF2-40B4-BE49-F238E27FC236}">
                <a16:creationId xmlns:a16="http://schemas.microsoft.com/office/drawing/2014/main" id="{71B1C480-C63C-4462-90C1-974E0E49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7543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DEBFA"/>
                </a:solidFill>
              </a:defRPr>
            </a:pPr>
            <a:r>
              <a:rPr sz="2550">
                <a:solidFill>
                  <a:srgbClr val="DDEBFA"/>
                </a:solidFill>
              </a:rPr>
              <a:t>E cosa avrebbe fatto il capitale iniziale se fosse stato investito?</a:t>
            </a:r>
          </a:p>
        </p:txBody>
      </p:sp>
      <p:sp>
        <p:nvSpPr>
          <p:cNvPr id="10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B232A42D-C553-417E-85C3-367126CF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154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11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C365CE2-1D09-4D95-8C09-81A52823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315450"/>
            <a:ext cx="148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2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75FF63CB-08BF-429C-84EB-7F62C033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154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10732557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lc-title">
            <a:extLst xmlns:a="http://schemas.openxmlformats.org/drawingml/2006/main">
              <a:ext uri="{FF2B5EF4-FFF2-40B4-BE49-F238E27FC236}">
                <a16:creationId xmlns:a16="http://schemas.microsoft.com/office/drawing/2014/main" id="{5A07F43C-CB95-4D0C-A72F-21E218C5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600075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Abbiamo costruito un calcolatore più prudente.</a:t>
            </a:r>
          </a:p>
        </p:txBody>
      </p:sp>
      <p:sp>
        <p:nvSpPr>
          <p:cNvPr id="2" name="calc-body">
            <a:extLst xmlns:a="http://schemas.openxmlformats.org/drawingml/2006/main">
              <a:ext uri="{FF2B5EF4-FFF2-40B4-BE49-F238E27FC236}">
                <a16:creationId xmlns:a16="http://schemas.microsoft.com/office/drawing/2014/main" id="{005E7B8C-6F37-423C-BDDC-5D747F5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68389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Non premia automaticamente chi compra. Se la rata è più bassa dell'affitto, quel risparmio non viene reinvestito per magia.</a:t>
            </a:r>
          </a:p>
        </p:txBody>
      </p:sp>
      <p:sp>
        <p:nvSpPr>
          <p:cNvPr id="3" name="calc-chip-1">
            <a:extLst xmlns:a="http://schemas.openxmlformats.org/drawingml/2006/main">
              <a:ext uri="{FF2B5EF4-FFF2-40B4-BE49-F238E27FC236}">
                <a16:creationId xmlns:a16="http://schemas.microsoft.com/office/drawing/2014/main" id="{04BA0317-FB13-41BF-93FA-BEB9CB5A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3460"/>
            <a:ext cx="2352389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4" name="calc-chip-1-text">
            <a:extLst xmlns:a="http://schemas.openxmlformats.org/drawingml/2006/main">
              <a:ext uri="{FF2B5EF4-FFF2-40B4-BE49-F238E27FC236}">
                <a16:creationId xmlns:a16="http://schemas.microsoft.com/office/drawing/2014/main" id="{29DC536B-816A-457D-A71E-00E12E06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66C2"/>
                </a:solidFill>
              </a:defRPr>
            </a:pPr>
            <a:r>
              <a:rPr sz="1350" b="1">
                <a:solidFill>
                  <a:srgbClr val="0A66C2"/>
                </a:solidFill>
              </a:rPr>
              <a:t>anticipo investito lato affitto</a:t>
            </a:r>
          </a:p>
        </p:txBody>
      </p:sp>
      <p:sp>
        <p:nvSpPr>
          <p:cNvPr id="5" name="calc-chip-2">
            <a:extLst xmlns:a="http://schemas.openxmlformats.org/drawingml/2006/main">
              <a:ext uri="{FF2B5EF4-FFF2-40B4-BE49-F238E27FC236}">
                <a16:creationId xmlns:a16="http://schemas.microsoft.com/office/drawing/2014/main" id="{390FD840-129A-4F91-BAD8-7F4A05D2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0690"/>
            <a:ext cx="178308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6"/>
          </a:solidFill>
        </p:spPr>
      </p:sp>
      <p:sp>
        <p:nvSpPr>
          <p:cNvPr id="6" name="calc-chip-2-text">
            <a:extLst xmlns:a="http://schemas.openxmlformats.org/drawingml/2006/main">
              <a:ext uri="{FF2B5EF4-FFF2-40B4-BE49-F238E27FC236}">
                <a16:creationId xmlns:a16="http://schemas.microsoft.com/office/drawing/2014/main" id="{8F5307DB-8A41-46C9-923C-4F83EC43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144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A623"/>
                </a:solidFill>
              </a:defRPr>
            </a:pPr>
            <a:r>
              <a:rPr sz="1350" b="1">
                <a:solidFill>
                  <a:srgbClr val="F5A623"/>
                </a:solidFill>
              </a:rPr>
              <a:t>costo vendita futuro</a:t>
            </a:r>
          </a:p>
        </p:txBody>
      </p:sp>
      <p:sp>
        <p:nvSpPr>
          <p:cNvPr id="7" name="calc-chip-3">
            <a:extLst xmlns:a="http://schemas.openxmlformats.org/drawingml/2006/main">
              <a:ext uri="{FF2B5EF4-FFF2-40B4-BE49-F238E27FC236}">
                <a16:creationId xmlns:a16="http://schemas.microsoft.com/office/drawing/2014/main" id="{33ED6456-16C1-4A0A-BC19-3F0323B0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2180"/>
            <a:ext cx="2760821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8" name="calc-chip-3-text">
            <a:extLst xmlns:a="http://schemas.openxmlformats.org/drawingml/2006/main">
              <a:ext uri="{FF2B5EF4-FFF2-40B4-BE49-F238E27FC236}">
                <a16:creationId xmlns:a16="http://schemas.microsoft.com/office/drawing/2014/main" id="{2FEFCF2E-B120-460D-8717-BA0593A5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96000"/>
            <a:ext cx="2419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66C2"/>
                </a:solidFill>
              </a:defRPr>
            </a:pPr>
            <a:r>
              <a:rPr sz="1350" b="1">
                <a:solidFill>
                  <a:srgbClr val="0A66C2"/>
                </a:solidFill>
              </a:rPr>
              <a:t>manutenzione e costi proprietario</a:t>
            </a:r>
          </a:p>
        </p:txBody>
      </p:sp>
      <p:sp>
        <p:nvSpPr>
          <p:cNvPr id="9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7623FDDB-685F-438B-A973-DF928804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38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10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F35B982E-F2F6-4C6D-A030-B733ECD4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83895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EB65613A-4551-42F3-9E3A-4635DDA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8389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3/7</a:t>
            </a:r>
          </a:p>
        </p:txBody>
      </p:sp>
      <p:sp>
        <p:nvSpPr>
          <p:cNvPr id="12" name="app-shot-frame">
            <a:extLst xmlns:a="http://schemas.openxmlformats.org/drawingml/2006/main">
              <a:ext uri="{FF2B5EF4-FFF2-40B4-BE49-F238E27FC236}">
                <a16:creationId xmlns:a16="http://schemas.microsoft.com/office/drawing/2014/main" id="{9D9979B7-431A-439E-ABF0-93736CBE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967" y="723900"/>
            <a:ext cx="9442133" cy="8839200"/>
          </a:xfrm>
          <a:prstGeom xmlns:a="http://schemas.openxmlformats.org/drawingml/2006/main" prst="roundRect">
            <a:avLst>
              <a:gd name="adj" fmla="val 86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mock-hero">
            <a:extLst xmlns:a="http://schemas.openxmlformats.org/drawingml/2006/main">
              <a:ext uri="{FF2B5EF4-FFF2-40B4-BE49-F238E27FC236}">
                <a16:creationId xmlns:a16="http://schemas.microsoft.com/office/drawing/2014/main" id="{05BFABE4-4D14-4E0F-BA3E-F31B075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168" y="1181100"/>
            <a:ext cx="8527733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14" name="mock-kicker">
            <a:extLst xmlns:a="http://schemas.openxmlformats.org/drawingml/2006/main">
              <a:ext uri="{FF2B5EF4-FFF2-40B4-BE49-F238E27FC236}">
                <a16:creationId xmlns:a16="http://schemas.microsoft.com/office/drawing/2014/main" id="{26DDB77F-3DC3-4953-8879-3E452C40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803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A66C2"/>
                </a:solidFill>
              </a:defRPr>
            </a:pPr>
            <a:r>
              <a:rPr sz="1350" b="1">
                <a:solidFill>
                  <a:srgbClr val="0A66C2"/>
                </a:solidFill>
              </a:rPr>
              <a:t>CASERTA · 2026</a:t>
            </a:r>
          </a:p>
        </p:txBody>
      </p:sp>
      <p:sp>
        <p:nvSpPr>
          <p:cNvPr id="15" name="mock-title">
            <a:extLst xmlns:a="http://schemas.openxmlformats.org/drawingml/2006/main">
              <a:ext uri="{FF2B5EF4-FFF2-40B4-BE49-F238E27FC236}">
                <a16:creationId xmlns:a16="http://schemas.microsoft.com/office/drawing/2014/main" id="{BCDFF9E7-41BB-4BEB-BA29-089A64B7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8039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Compra solo se resti almeno X anni.</a:t>
            </a:r>
          </a:p>
        </p:txBody>
      </p:sp>
      <p:sp>
        <p:nvSpPr>
          <p:cNvPr id="16" name="mock-sub">
            <a:extLst xmlns:a="http://schemas.openxmlformats.org/drawingml/2006/main">
              <a:ext uri="{FF2B5EF4-FFF2-40B4-BE49-F238E27FC236}">
                <a16:creationId xmlns:a16="http://schemas.microsoft.com/office/drawing/2014/main" id="{DCF844E5-9D67-4D2C-A71E-14AD03B1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Verdetto prudente: include vendita futura e capitale investito.</a:t>
            </a:r>
          </a:p>
        </p:txBody>
      </p:sp>
      <p:sp>
        <p:nvSpPr>
          <p:cNvPr id="17" name="mock-stat-1-value">
            <a:extLst xmlns:a="http://schemas.openxmlformats.org/drawingml/2006/main">
              <a:ext uri="{FF2B5EF4-FFF2-40B4-BE49-F238E27FC236}">
                <a16:creationId xmlns:a16="http://schemas.microsoft.com/office/drawing/2014/main" id="{BFCC7C9F-16B2-49EE-978E-05E9A5A8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A66C2"/>
                </a:solidFill>
              </a:defRPr>
            </a:pPr>
            <a:r>
              <a:rPr sz="6450" b="1">
                <a:solidFill>
                  <a:srgbClr val="0A66C2"/>
                </a:solidFill>
              </a:rPr>
              <a:t>175k</a:t>
            </a:r>
          </a:p>
        </p:txBody>
      </p:sp>
      <p:sp>
        <p:nvSpPr>
          <p:cNvPr id="18" name="mock-stat-1-caption">
            <a:extLst xmlns:a="http://schemas.openxmlformats.org/drawingml/2006/main">
              <a:ext uri="{FF2B5EF4-FFF2-40B4-BE49-F238E27FC236}">
                <a16:creationId xmlns:a16="http://schemas.microsoft.com/office/drawing/2014/main" id="{C443C416-EE7A-4701-95CB-4C9AC6A3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24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valore casa</a:t>
            </a:r>
          </a:p>
        </p:txBody>
      </p:sp>
      <p:sp>
        <p:nvSpPr>
          <p:cNvPr id="19" name="mock-stat-2-value">
            <a:extLst xmlns:a="http://schemas.openxmlformats.org/drawingml/2006/main">
              <a:ext uri="{FF2B5EF4-FFF2-40B4-BE49-F238E27FC236}">
                <a16:creationId xmlns:a16="http://schemas.microsoft.com/office/drawing/2014/main" id="{09B983FD-8034-4562-A866-912014C1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6576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6803C"/>
                </a:solidFill>
              </a:defRPr>
            </a:pPr>
            <a:r>
              <a:rPr sz="6450" b="1">
                <a:solidFill>
                  <a:srgbClr val="16803C"/>
                </a:solidFill>
              </a:rPr>
              <a:t>892</a:t>
            </a:r>
          </a:p>
        </p:txBody>
      </p:sp>
      <p:sp>
        <p:nvSpPr>
          <p:cNvPr id="20" name="mock-stat-2-caption">
            <a:extLst xmlns:a="http://schemas.openxmlformats.org/drawingml/2006/main">
              <a:ext uri="{FF2B5EF4-FFF2-40B4-BE49-F238E27FC236}">
                <a16:creationId xmlns:a16="http://schemas.microsoft.com/office/drawing/2014/main" id="{E0686484-7961-45F5-9D2F-D4D07B63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724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affitto/mese</a:t>
            </a:r>
          </a:p>
        </p:txBody>
      </p:sp>
      <p:sp>
        <p:nvSpPr>
          <p:cNvPr id="21" name="mock-stat-3-value">
            <a:extLst xmlns:a="http://schemas.openxmlformats.org/drawingml/2006/main">
              <a:ext uri="{FF2B5EF4-FFF2-40B4-BE49-F238E27FC236}">
                <a16:creationId xmlns:a16="http://schemas.microsoft.com/office/drawing/2014/main" id="{AAE4C1F5-F82E-4F1E-9266-BF2659E5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36576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D93025"/>
                </a:solidFill>
              </a:defRPr>
            </a:pPr>
            <a:r>
              <a:rPr sz="6450" b="1">
                <a:solidFill>
                  <a:srgbClr val="D93025"/>
                </a:solidFill>
              </a:rPr>
              <a:t>&gt;40</a:t>
            </a:r>
          </a:p>
        </p:txBody>
      </p:sp>
      <p:sp>
        <p:nvSpPr>
          <p:cNvPr id="22" name="mock-stat-3-caption">
            <a:extLst xmlns:a="http://schemas.openxmlformats.org/drawingml/2006/main">
              <a:ext uri="{FF2B5EF4-FFF2-40B4-BE49-F238E27FC236}">
                <a16:creationId xmlns:a16="http://schemas.microsoft.com/office/drawing/2014/main" id="{13F40EB6-2FF9-4356-822F-480B89C8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72440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break-even se vendi</a:t>
            </a:r>
          </a:p>
        </p:txBody>
      </p:sp>
      <p:sp>
        <p:nvSpPr>
          <p:cNvPr id="23" name="mock-driver">
            <a:extLst xmlns:a="http://schemas.openxmlformats.org/drawingml/2006/main">
              <a:ext uri="{FF2B5EF4-FFF2-40B4-BE49-F238E27FC236}">
                <a16:creationId xmlns:a16="http://schemas.microsoft.com/office/drawing/2014/main" id="{47334C96-D549-4FC6-A45D-FB95323E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9168" y="5562600"/>
            <a:ext cx="8527733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24" name="mock-driver-title">
            <a:extLst xmlns:a="http://schemas.openxmlformats.org/drawingml/2006/main">
              <a:ext uri="{FF2B5EF4-FFF2-40B4-BE49-F238E27FC236}">
                <a16:creationId xmlns:a16="http://schemas.microsoft.com/office/drawing/2014/main" id="{C6E2387F-04F8-4BE6-8F15-CC0EEA2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29300"/>
            <a:ext cx="800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Cosa guida il risultato</a:t>
            </a:r>
          </a:p>
        </p:txBody>
      </p:sp>
      <p:sp>
        <p:nvSpPr>
          <p:cNvPr id="25" name="mock-driver-1">
            <a:extLst xmlns:a="http://schemas.openxmlformats.org/drawingml/2006/main">
              <a:ext uri="{FF2B5EF4-FFF2-40B4-BE49-F238E27FC236}">
                <a16:creationId xmlns:a16="http://schemas.microsoft.com/office/drawing/2014/main" id="{4B91D74B-7EF4-4623-B173-37A436D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248400"/>
            <a:ext cx="800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Anticipo alto</a:t>
            </a:r>
          </a:p>
        </p:txBody>
      </p:sp>
      <p:sp>
        <p:nvSpPr>
          <p:cNvPr id="26" name="mock-driver-2">
            <a:extLst xmlns:a="http://schemas.openxmlformats.org/drawingml/2006/main">
              <a:ext uri="{FF2B5EF4-FFF2-40B4-BE49-F238E27FC236}">
                <a16:creationId xmlns:a16="http://schemas.microsoft.com/office/drawing/2014/main" id="{D3B4E87B-A771-4C0B-ADBB-5991C6CD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858000"/>
            <a:ext cx="800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Rendimento alternativo alto</a:t>
            </a:r>
          </a:p>
        </p:txBody>
      </p:sp>
      <p:sp>
        <p:nvSpPr>
          <p:cNvPr id="27" name="mock-driver-3">
            <a:extLst xmlns:a="http://schemas.openxmlformats.org/drawingml/2006/main">
              <a:ext uri="{FF2B5EF4-FFF2-40B4-BE49-F238E27FC236}">
                <a16:creationId xmlns:a16="http://schemas.microsoft.com/office/drawing/2014/main" id="{E03E5068-BE78-4BC5-8351-78E7DF61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467600"/>
            <a:ext cx="8001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Costo vendita futuro</a:t>
            </a:r>
          </a:p>
        </p:txBody>
      </p:sp>
    </p:spTree>
    <p:extLst>
      <p:ext uri="{BB962C8B-B14F-4D97-AF65-F5344CB8AC3E}">
        <p14:creationId xmlns:p14="http://schemas.microsoft.com/office/powerpoint/2010/main" val="12300873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rta-title">
            <a:extLst xmlns:a="http://schemas.openxmlformats.org/drawingml/2006/main">
              <a:ext uri="{FF2B5EF4-FFF2-40B4-BE49-F238E27FC236}">
                <a16:creationId xmlns:a16="http://schemas.microsoft.com/office/drawing/2014/main" id="{282BABA6-17EC-420F-86C3-FD7F168A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Caso reale: Caserta, aprile 2026.</a:t>
            </a:r>
          </a:p>
        </p:txBody>
      </p:sp>
      <p:sp>
        <p:nvSpPr>
          <p:cNvPr id="2" name="caserta-price-value">
            <a:extLst xmlns:a="http://schemas.openxmlformats.org/drawingml/2006/main">
              <a:ext uri="{FF2B5EF4-FFF2-40B4-BE49-F238E27FC236}">
                <a16:creationId xmlns:a16="http://schemas.microsoft.com/office/drawing/2014/main" id="{17C086E4-5527-43E2-9E48-3457F5C2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448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0A66C2"/>
                </a:solidFill>
              </a:defRPr>
            </a:pPr>
            <a:r>
              <a:rPr sz="6450" b="1">
                <a:solidFill>
                  <a:srgbClr val="0A66C2"/>
                </a:solidFill>
              </a:rPr>
              <a:t>1.751</a:t>
            </a:r>
          </a:p>
        </p:txBody>
      </p:sp>
      <p:sp>
        <p:nvSpPr>
          <p:cNvPr id="3" name="caserta-price-caption">
            <a:extLst xmlns:a="http://schemas.openxmlformats.org/drawingml/2006/main">
              <a:ext uri="{FF2B5EF4-FFF2-40B4-BE49-F238E27FC236}">
                <a16:creationId xmlns:a16="http://schemas.microsoft.com/office/drawing/2014/main" id="{B9FC9E82-9B35-4EDD-9A78-AD15229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euro/mq vendita residenziale</a:t>
            </a:r>
          </a:p>
        </p:txBody>
      </p:sp>
      <p:sp>
        <p:nvSpPr>
          <p:cNvPr id="4" name="caserta-rent-value">
            <a:extLst xmlns:a="http://schemas.openxmlformats.org/drawingml/2006/main">
              <a:ext uri="{FF2B5EF4-FFF2-40B4-BE49-F238E27FC236}">
                <a16:creationId xmlns:a16="http://schemas.microsoft.com/office/drawing/2014/main" id="{864ECCB8-AA97-4D69-8E8C-11E2A20A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448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6803C"/>
                </a:solidFill>
              </a:defRPr>
            </a:pPr>
            <a:r>
              <a:rPr sz="6450" b="1">
                <a:solidFill>
                  <a:srgbClr val="16803C"/>
                </a:solidFill>
              </a:rPr>
              <a:t>8,92</a:t>
            </a:r>
          </a:p>
        </p:txBody>
      </p:sp>
      <p:sp>
        <p:nvSpPr>
          <p:cNvPr id="5" name="caserta-rent-caption">
            <a:extLst xmlns:a="http://schemas.openxmlformats.org/drawingml/2006/main">
              <a:ext uri="{FF2B5EF4-FFF2-40B4-BE49-F238E27FC236}">
                <a16:creationId xmlns:a16="http://schemas.microsoft.com/office/drawing/2014/main" id="{419886EB-CBB7-480D-900C-3B2FB46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euro/mq/mese affitto</a:t>
            </a:r>
          </a:p>
        </p:txBody>
      </p:sp>
      <p:sp>
        <p:nvSpPr>
          <p:cNvPr id="6" name="caserta-size-value">
            <a:extLst xmlns:a="http://schemas.openxmlformats.org/drawingml/2006/main">
              <a:ext uri="{FF2B5EF4-FFF2-40B4-BE49-F238E27FC236}">
                <a16:creationId xmlns:a16="http://schemas.microsoft.com/office/drawing/2014/main" id="{FD0C9EAB-E1E6-4EBF-93D8-C55B0B9A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1809750"/>
            <a:ext cx="5448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11827"/>
                </a:solidFill>
              </a:defRPr>
            </a:pPr>
            <a:r>
              <a:rPr sz="6450" b="1">
                <a:solidFill>
                  <a:srgbClr val="111827"/>
                </a:solidFill>
              </a:rPr>
              <a:t>100 mq</a:t>
            </a:r>
          </a:p>
        </p:txBody>
      </p:sp>
      <p:sp>
        <p:nvSpPr>
          <p:cNvPr id="7" name="caserta-size-caption">
            <a:extLst xmlns:a="http://schemas.openxmlformats.org/drawingml/2006/main">
              <a:ext uri="{FF2B5EF4-FFF2-40B4-BE49-F238E27FC236}">
                <a16:creationId xmlns:a16="http://schemas.microsoft.com/office/drawing/2014/main" id="{F945E874-AD56-4D9C-A2AA-66822F1E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87655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1758A"/>
                </a:solidFill>
              </a:defRPr>
            </a:pPr>
            <a:r>
              <a:rPr sz="1800">
                <a:solidFill>
                  <a:srgbClr val="61758A"/>
                </a:solidFill>
              </a:rPr>
              <a:t>casa: 175.100 euro | affitto: 892 euro/mese</a:t>
            </a:r>
          </a:p>
        </p:txBody>
      </p:sp>
      <p:sp>
        <p:nvSpPr>
          <p:cNvPr id="8" name="caserta-note">
            <a:extLst xmlns:a="http://schemas.openxmlformats.org/drawingml/2006/main">
              <a:ext uri="{FF2B5EF4-FFF2-40B4-BE49-F238E27FC236}">
                <a16:creationId xmlns:a16="http://schemas.microsoft.com/office/drawing/2014/main" id="{C8C1C7FC-2EE8-4A3A-AC2C-519AAF9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17230"/>
            <a:ext cx="16840200" cy="70866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9" name="caserta-note-text">
            <a:extLst xmlns:a="http://schemas.openxmlformats.org/drawingml/2006/main">
              <a:ext uri="{FF2B5EF4-FFF2-40B4-BE49-F238E27FC236}">
                <a16:creationId xmlns:a16="http://schemas.microsoft.com/office/drawing/2014/main" id="{AAE0F231-5FDB-459D-A67A-584EF49B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96300"/>
            <a:ext cx="16344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La domanda non è: pago meno di rata? La domanda è: tra X anni, se vendo, ho davvero battuto affitto + capitale investito?</a:t>
            </a:r>
          </a:p>
        </p:txBody>
      </p:sp>
      <p:sp>
        <p:nvSpPr>
          <p:cNvPr id="10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D0E38D29-0907-4D40-A32B-B6DAA6C3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154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1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6EF2404-1B85-412E-B913-CE0EA1A4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315450"/>
            <a:ext cx="148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E0C3BBF-64A2-4531-87F9-FDA64521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154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1146892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rivers-title">
            <a:extLst xmlns:a="http://schemas.openxmlformats.org/drawingml/2006/main">
              <a:ext uri="{FF2B5EF4-FFF2-40B4-BE49-F238E27FC236}">
                <a16:creationId xmlns:a16="http://schemas.microsoft.com/office/drawing/2014/main" id="{4480B498-E8BE-48BA-A7F7-EE4E488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111827"/>
                </a:solidFill>
              </a:defRPr>
            </a:pPr>
            <a:r>
              <a:rPr sz="5250" b="1">
                <a:solidFill>
                  <a:srgbClr val="111827"/>
                </a:solidFill>
              </a:rPr>
              <a:t>Il risultato cambia per motivi precisi.</a:t>
            </a:r>
          </a:p>
        </p:txBody>
      </p:sp>
      <p:sp>
        <p:nvSpPr>
          <p:cNvPr id="2" name="driver-0">
            <a:extLst xmlns:a="http://schemas.openxmlformats.org/drawingml/2006/main">
              <a:ext uri="{FF2B5EF4-FFF2-40B4-BE49-F238E27FC236}">
                <a16:creationId xmlns:a16="http://schemas.microsoft.com/office/drawing/2014/main" id="{A857EB1B-9AB4-4B29-9C0F-79FC7B2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" name="driver-title-0">
            <a:extLst xmlns:a="http://schemas.openxmlformats.org/drawingml/2006/main">
              <a:ext uri="{FF2B5EF4-FFF2-40B4-BE49-F238E27FC236}">
                <a16:creationId xmlns:a16="http://schemas.microsoft.com/office/drawing/2014/main" id="{1A50DF43-871E-481B-ACCF-61CBF34D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93025"/>
                </a:solidFill>
              </a:defRPr>
            </a:pPr>
            <a:r>
              <a:rPr sz="3000" b="1">
                <a:solidFill>
                  <a:srgbClr val="D93025"/>
                </a:solidFill>
              </a:rPr>
              <a:t>Anticipo alto</a:t>
            </a:r>
          </a:p>
        </p:txBody>
      </p:sp>
      <p:sp>
        <p:nvSpPr>
          <p:cNvPr id="4" name="driver-body-0">
            <a:extLst xmlns:a="http://schemas.openxmlformats.org/drawingml/2006/main">
              <a:ext uri="{FF2B5EF4-FFF2-40B4-BE49-F238E27FC236}">
                <a16:creationId xmlns:a16="http://schemas.microsoft.com/office/drawing/2014/main" id="{79F171F3-DBEA-4E95-BFCE-8FE17BFC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favorisce affitto + investimento</a:t>
            </a:r>
          </a:p>
        </p:txBody>
      </p:sp>
      <p:sp>
        <p:nvSpPr>
          <p:cNvPr id="5" name="driver-1">
            <a:extLst xmlns:a="http://schemas.openxmlformats.org/drawingml/2006/main">
              <a:ext uri="{FF2B5EF4-FFF2-40B4-BE49-F238E27FC236}">
                <a16:creationId xmlns:a16="http://schemas.microsoft.com/office/drawing/2014/main" id="{30F45406-66C9-4873-86EA-5E869E5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7165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6" name="driver-title-1">
            <a:extLst xmlns:a="http://schemas.openxmlformats.org/drawingml/2006/main">
              <a:ext uri="{FF2B5EF4-FFF2-40B4-BE49-F238E27FC236}">
                <a16:creationId xmlns:a16="http://schemas.microsoft.com/office/drawing/2014/main" id="{0B3E069F-C2AE-4C88-A29D-C05CC28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3835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93025"/>
                </a:solidFill>
              </a:defRPr>
            </a:pPr>
            <a:r>
              <a:rPr sz="3000" b="1">
                <a:solidFill>
                  <a:srgbClr val="D93025"/>
                </a:solidFill>
              </a:rPr>
              <a:t>ETF alto</a:t>
            </a:r>
          </a:p>
        </p:txBody>
      </p:sp>
      <p:sp>
        <p:nvSpPr>
          <p:cNvPr id="7" name="driver-body-1">
            <a:extLst xmlns:a="http://schemas.openxmlformats.org/drawingml/2006/main">
              <a:ext uri="{FF2B5EF4-FFF2-40B4-BE49-F238E27FC236}">
                <a16:creationId xmlns:a16="http://schemas.microsoft.com/office/drawing/2014/main" id="{DCC9C6F8-66C8-43EF-A606-8047BD5B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098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sposta avanti il break-even</a:t>
            </a:r>
          </a:p>
        </p:txBody>
      </p:sp>
      <p:sp>
        <p:nvSpPr>
          <p:cNvPr id="8" name="driver-2">
            <a:extLst xmlns:a="http://schemas.openxmlformats.org/drawingml/2006/main">
              <a:ext uri="{FF2B5EF4-FFF2-40B4-BE49-F238E27FC236}">
                <a16:creationId xmlns:a16="http://schemas.microsoft.com/office/drawing/2014/main" id="{7B271018-ACF2-41A7-9C10-3B69319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177165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driver-title-2">
            <a:extLst xmlns:a="http://schemas.openxmlformats.org/drawingml/2006/main">
              <a:ext uri="{FF2B5EF4-FFF2-40B4-BE49-F238E27FC236}">
                <a16:creationId xmlns:a16="http://schemas.microsoft.com/office/drawing/2014/main" id="{D7F5B933-FB27-4EBA-99D5-ECEDAE61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03835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803C"/>
                </a:solidFill>
              </a:defRPr>
            </a:pPr>
            <a:r>
              <a:rPr sz="3000" b="1">
                <a:solidFill>
                  <a:srgbClr val="16803C"/>
                </a:solidFill>
              </a:rPr>
              <a:t>Affitto caro</a:t>
            </a:r>
          </a:p>
        </p:txBody>
      </p:sp>
      <p:sp>
        <p:nvSpPr>
          <p:cNvPr id="10" name="driver-body-2">
            <a:extLst xmlns:a="http://schemas.openxmlformats.org/drawingml/2006/main">
              <a:ext uri="{FF2B5EF4-FFF2-40B4-BE49-F238E27FC236}">
                <a16:creationId xmlns:a16="http://schemas.microsoft.com/office/drawing/2014/main" id="{C67CC1D5-AC98-41AE-9E90-5EE66408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60985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aiuta l'acquisto</a:t>
            </a:r>
          </a:p>
        </p:txBody>
      </p:sp>
      <p:sp>
        <p:nvSpPr>
          <p:cNvPr id="11" name="driver-3">
            <a:extLst xmlns:a="http://schemas.openxmlformats.org/drawingml/2006/main">
              <a:ext uri="{FF2B5EF4-FFF2-40B4-BE49-F238E27FC236}">
                <a16:creationId xmlns:a16="http://schemas.microsoft.com/office/drawing/2014/main" id="{AE563D26-569E-4D49-9D4B-2A3A4B6D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212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12" name="driver-title-3">
            <a:extLst xmlns:a="http://schemas.openxmlformats.org/drawingml/2006/main">
              <a:ext uri="{FF2B5EF4-FFF2-40B4-BE49-F238E27FC236}">
                <a16:creationId xmlns:a16="http://schemas.microsoft.com/office/drawing/2014/main" id="{FCCE9075-DA79-489D-B49D-FB5E5202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12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93025"/>
                </a:solidFill>
              </a:defRPr>
            </a:pPr>
            <a:r>
              <a:rPr sz="3000" b="1">
                <a:solidFill>
                  <a:srgbClr val="D93025"/>
                </a:solidFill>
              </a:rPr>
              <a:t>Costo vendita</a:t>
            </a:r>
          </a:p>
        </p:txBody>
      </p:sp>
      <p:sp>
        <p:nvSpPr>
          <p:cNvPr id="13" name="driver-body-3">
            <a:extLst xmlns:a="http://schemas.openxmlformats.org/drawingml/2006/main">
              <a:ext uri="{FF2B5EF4-FFF2-40B4-BE49-F238E27FC236}">
                <a16:creationId xmlns:a16="http://schemas.microsoft.com/office/drawing/2014/main" id="{DF9C2AB1-9EDB-4C70-AC5A-BA8B8669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627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morde se esci presto</a:t>
            </a:r>
          </a:p>
        </p:txBody>
      </p:sp>
      <p:sp>
        <p:nvSpPr>
          <p:cNvPr id="14" name="driver-4">
            <a:extLst xmlns:a="http://schemas.openxmlformats.org/drawingml/2006/main">
              <a:ext uri="{FF2B5EF4-FFF2-40B4-BE49-F238E27FC236}">
                <a16:creationId xmlns:a16="http://schemas.microsoft.com/office/drawing/2014/main" id="{2080CDE3-CC38-476A-B7A3-06C5267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53212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driver-title-4">
            <a:extLst xmlns:a="http://schemas.openxmlformats.org/drawingml/2006/main">
              <a:ext uri="{FF2B5EF4-FFF2-40B4-BE49-F238E27FC236}">
                <a16:creationId xmlns:a16="http://schemas.microsoft.com/office/drawing/2014/main" id="{3B5E14AE-8A24-4E44-9F83-7ABE75F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912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93025"/>
                </a:solidFill>
              </a:defRPr>
            </a:pPr>
            <a:r>
              <a:rPr sz="3000" b="1">
                <a:solidFill>
                  <a:srgbClr val="D93025"/>
                </a:solidFill>
              </a:rPr>
              <a:t>Manutenzione</a:t>
            </a:r>
          </a:p>
        </p:txBody>
      </p:sp>
      <p:sp>
        <p:nvSpPr>
          <p:cNvPr id="16" name="driver-body-4">
            <a:extLst xmlns:a="http://schemas.openxmlformats.org/drawingml/2006/main">
              <a:ext uri="{FF2B5EF4-FFF2-40B4-BE49-F238E27FC236}">
                <a16:creationId xmlns:a16="http://schemas.microsoft.com/office/drawing/2014/main" id="{ABFF3D86-097F-4D1D-B330-47729A9F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627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non è opzionale</a:t>
            </a:r>
          </a:p>
        </p:txBody>
      </p:sp>
      <p:sp>
        <p:nvSpPr>
          <p:cNvPr id="17" name="driver-5">
            <a:extLst xmlns:a="http://schemas.openxmlformats.org/drawingml/2006/main">
              <a:ext uri="{FF2B5EF4-FFF2-40B4-BE49-F238E27FC236}">
                <a16:creationId xmlns:a16="http://schemas.microsoft.com/office/drawing/2014/main" id="{01BF4729-F981-449B-90B4-3B198499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5532120"/>
            <a:ext cx="5461000" cy="3531870"/>
          </a:xfrm>
          <a:prstGeom xmlns:a="http://schemas.openxmlformats.org/drawingml/2006/main" prst="roundRect">
            <a:avLst>
              <a:gd name="adj" fmla="val 2157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18" name="driver-title-5">
            <a:extLst xmlns:a="http://schemas.openxmlformats.org/drawingml/2006/main">
              <a:ext uri="{FF2B5EF4-FFF2-40B4-BE49-F238E27FC236}">
                <a16:creationId xmlns:a16="http://schemas.microsoft.com/office/drawing/2014/main" id="{FC1B2F6E-5295-44E0-96D6-1512348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91200"/>
            <a:ext cx="4933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A623"/>
                </a:solidFill>
              </a:defRPr>
            </a:pPr>
            <a:r>
              <a:rPr sz="3000" b="1">
                <a:solidFill>
                  <a:srgbClr val="F5A623"/>
                </a:solidFill>
              </a:rPr>
              <a:t>Rivalutazione</a:t>
            </a:r>
          </a:p>
        </p:txBody>
      </p:sp>
      <p:sp>
        <p:nvSpPr>
          <p:cNvPr id="19" name="driver-body-5">
            <a:extLst xmlns:a="http://schemas.openxmlformats.org/drawingml/2006/main">
              <a:ext uri="{FF2B5EF4-FFF2-40B4-BE49-F238E27FC236}">
                <a16:creationId xmlns:a16="http://schemas.microsoft.com/office/drawing/2014/main" id="{47FAEC26-6A98-4534-B8E2-ACC7B073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362700"/>
            <a:ext cx="493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11827"/>
                </a:solidFill>
              </a:defRPr>
            </a:pPr>
            <a:r>
              <a:rPr sz="1950">
                <a:solidFill>
                  <a:srgbClr val="111827"/>
                </a:solidFill>
              </a:rPr>
              <a:t>puo' salvare o affondare</a:t>
            </a:r>
          </a:p>
        </p:txBody>
      </p:sp>
      <p:sp>
        <p:nvSpPr>
          <p:cNvPr id="20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4DD90A4A-12C4-4F1D-A46E-6CE2D83E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154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2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CECFD62-0F99-4E5C-AC59-74DC224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315450"/>
            <a:ext cx="148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2AF22B1-67A2-414A-B68D-9D6F7E6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1545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14701404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verdict-dark">
            <a:extLst xmlns:a="http://schemas.openxmlformats.org/drawingml/2006/main">
              <a:ext uri="{FF2B5EF4-FFF2-40B4-BE49-F238E27FC236}">
                <a16:creationId xmlns:a16="http://schemas.microsoft.com/office/drawing/2014/main" id="{7DD6007B-F93C-41CA-A231-328E4DF3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172450" cy="8839200"/>
          </a:xfrm>
          <a:prstGeom xmlns:a="http://schemas.openxmlformats.org/drawingml/2006/main" prst="roundRect">
            <a:avLst>
              <a:gd name="adj" fmla="val 932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2" name="verdict-label">
            <a:extLst xmlns:a="http://schemas.openxmlformats.org/drawingml/2006/main">
              <a:ext uri="{FF2B5EF4-FFF2-40B4-BE49-F238E27FC236}">
                <a16:creationId xmlns:a16="http://schemas.microsoft.com/office/drawing/2014/main" id="{87FE68EB-C772-4719-800F-ADC314DA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62050"/>
            <a:ext cx="729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Verdetto onesto</a:t>
            </a:r>
          </a:p>
        </p:txBody>
      </p:sp>
      <p:sp>
        <p:nvSpPr>
          <p:cNvPr id="3" name="verdict-main">
            <a:extLst xmlns:a="http://schemas.openxmlformats.org/drawingml/2006/main">
              <a:ext uri="{FF2B5EF4-FFF2-40B4-BE49-F238E27FC236}">
                <a16:creationId xmlns:a16="http://schemas.microsoft.com/office/drawing/2014/main" id="{BC7780EF-4011-41C9-BECE-D30F4EBC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7296150" cy="2686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Conviene comprare solo se resti almeno X anni.</a:t>
            </a:r>
          </a:p>
        </p:txBody>
      </p:sp>
      <p:sp>
        <p:nvSpPr>
          <p:cNvPr id="4" name="verdict-copy">
            <a:extLst xmlns:a="http://schemas.openxmlformats.org/drawingml/2006/main">
              <a:ext uri="{FF2B5EF4-FFF2-40B4-BE49-F238E27FC236}">
                <a16:creationId xmlns:a16="http://schemas.microsoft.com/office/drawing/2014/main" id="{EC189075-1FA8-4E36-8C2B-7F74440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72961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DDEBFA"/>
                </a:solidFill>
              </a:defRPr>
            </a:pPr>
            <a:r>
              <a:rPr sz="2550">
                <a:solidFill>
                  <a:srgbClr val="DDEBFA"/>
                </a:solidFill>
              </a:rPr>
              <a:t>Dove X non è il desiderio di comprare. È il punto in cui il patrimonio netto batte l'alternativa.</a:t>
            </a:r>
          </a:p>
        </p:txBody>
      </p:sp>
      <p:sp>
        <p:nvSpPr>
          <p:cNvPr id="5" name="verdict-side-title">
            <a:extLst xmlns:a="http://schemas.openxmlformats.org/drawingml/2006/main">
              <a:ext uri="{FF2B5EF4-FFF2-40B4-BE49-F238E27FC236}">
                <a16:creationId xmlns:a16="http://schemas.microsoft.com/office/drawing/2014/main" id="{EDE1333C-C28A-40DD-B24E-A9DAA8C8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723900"/>
            <a:ext cx="8172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Le frasi giuste non sono assolute.</a:t>
            </a:r>
          </a:p>
        </p:txBody>
      </p:sp>
      <p:sp>
        <p:nvSpPr>
          <p:cNvPr id="6" name="verdict-line-1">
            <a:extLst xmlns:a="http://schemas.openxmlformats.org/drawingml/2006/main">
              <a:ext uri="{FF2B5EF4-FFF2-40B4-BE49-F238E27FC236}">
                <a16:creationId xmlns:a16="http://schemas.microsoft.com/office/drawing/2014/main" id="{96A71644-D9AC-4C34-92E3-F750EEC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638300"/>
            <a:ext cx="817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Affittare resta competitivo se investi il capitale.</a:t>
            </a:r>
          </a:p>
        </p:txBody>
      </p:sp>
      <p:sp>
        <p:nvSpPr>
          <p:cNvPr id="7" name="verdict-line-2">
            <a:extLst xmlns:a="http://schemas.openxmlformats.org/drawingml/2006/main">
              <a:ext uri="{FF2B5EF4-FFF2-40B4-BE49-F238E27FC236}">
                <a16:creationId xmlns:a16="http://schemas.microsoft.com/office/drawing/2014/main" id="{E683BFD8-CFBB-46BF-A5B2-5B7C43A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817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La rata è più bassa, ma l'anticipo pesa.</a:t>
            </a:r>
          </a:p>
        </p:txBody>
      </p:sp>
      <p:sp>
        <p:nvSpPr>
          <p:cNvPr id="8" name="verdict-line-3">
            <a:extLst xmlns:a="http://schemas.openxmlformats.org/drawingml/2006/main">
              <a:ext uri="{FF2B5EF4-FFF2-40B4-BE49-F238E27FC236}">
                <a16:creationId xmlns:a16="http://schemas.microsoft.com/office/drawing/2014/main" id="{DDFA71C3-2F91-4EE4-A2DA-2B3F296D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8172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Il risultato è sensibile al rendimento alternativo.</a:t>
            </a:r>
          </a:p>
        </p:txBody>
      </p:sp>
      <p:sp>
        <p:nvSpPr>
          <p:cNvPr id="9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67376E01-A6C8-486E-AF6E-A401D0F7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10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1C7DEF96-924A-4198-A535-3FCF28F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43300"/>
            <a:ext cx="622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1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2BFF45A-564C-4830-A702-90B270E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35433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146469889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ta-title-1">
            <a:extLst xmlns:a="http://schemas.openxmlformats.org/drawingml/2006/main">
              <a:ext uri="{FF2B5EF4-FFF2-40B4-BE49-F238E27FC236}">
                <a16:creationId xmlns:a16="http://schemas.microsoft.com/office/drawing/2014/main" id="{AE2CED44-2DA9-4A5E-89ED-5418C98C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827"/>
                </a:solidFill>
              </a:defRPr>
            </a:pPr>
            <a:r>
              <a:rPr sz="6150" b="1">
                <a:solidFill>
                  <a:srgbClr val="111827"/>
                </a:solidFill>
              </a:rPr>
              <a:t>La casa non è solo un sogno.</a:t>
            </a:r>
          </a:p>
        </p:txBody>
      </p:sp>
      <p:sp>
        <p:nvSpPr>
          <p:cNvPr id="2" name="cta-title-2">
            <a:extLst xmlns:a="http://schemas.openxmlformats.org/drawingml/2006/main">
              <a:ext uri="{FF2B5EF4-FFF2-40B4-BE49-F238E27FC236}">
                <a16:creationId xmlns:a16="http://schemas.microsoft.com/office/drawing/2014/main" id="{0E783C33-9D3C-4305-BC80-E3D61DF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6840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11827"/>
                </a:solidFill>
              </a:defRPr>
            </a:pPr>
            <a:r>
              <a:rPr sz="6150" b="1">
                <a:solidFill>
                  <a:srgbClr val="111827"/>
                </a:solidFill>
              </a:rPr>
              <a:t>È anche un modello finanziario.</a:t>
            </a:r>
          </a:p>
        </p:txBody>
      </p:sp>
      <p:sp>
        <p:nvSpPr>
          <p:cNvPr id="3" name="cta-body">
            <a:extLst xmlns:a="http://schemas.openxmlformats.org/drawingml/2006/main">
              <a:ext uri="{FF2B5EF4-FFF2-40B4-BE49-F238E27FC236}">
                <a16:creationId xmlns:a16="http://schemas.microsoft.com/office/drawing/2014/main" id="{0C179D73-BAF3-48FC-A046-5DB4E48A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1182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34495E"/>
                </a:solidFill>
              </a:defRPr>
            </a:pPr>
            <a:r>
              <a:rPr sz="2550">
                <a:solidFill>
                  <a:srgbClr val="34495E"/>
                </a:solidFill>
              </a:rPr>
              <a:t>Prima di decidere, prova 3 scenari: resti 5 anni, resti 10 anni, resti 20 anni. Poi cambia anticipo, ETF e costo vendita. Il verdetto serio nasce lì.</a:t>
            </a:r>
          </a:p>
        </p:txBody>
      </p:sp>
      <p:sp>
        <p:nvSpPr>
          <p:cNvPr id="4" name="cta-strip">
            <a:extLst xmlns:a="http://schemas.openxmlformats.org/drawingml/2006/main">
              <a:ext uri="{FF2B5EF4-FFF2-40B4-BE49-F238E27FC236}">
                <a16:creationId xmlns:a16="http://schemas.microsoft.com/office/drawing/2014/main" id="{D3BE02B1-D245-4294-BF9B-03C83852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9560"/>
            <a:ext cx="168402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66C2"/>
          </a:solidFill>
        </p:spPr>
      </p:sp>
      <p:sp>
        <p:nvSpPr>
          <p:cNvPr id="5" name="cta-strip-text">
            <a:extLst xmlns:a="http://schemas.openxmlformats.org/drawingml/2006/main">
              <a:ext uri="{FF2B5EF4-FFF2-40B4-BE49-F238E27FC236}">
                <a16:creationId xmlns:a16="http://schemas.microsoft.com/office/drawing/2014/main" id="{77B0318C-718A-4E64-A879-17C04613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619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Vuoi comprare casa? Prima fai litigare i numeri.</a:t>
            </a:r>
          </a:p>
        </p:txBody>
      </p:sp>
      <p:sp>
        <p:nvSpPr>
          <p:cNvPr id="6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FF3EF10E-EDB2-4879-BC1D-080CB3B5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A66C2"/>
                </a:solidFill>
              </a:defRPr>
            </a:pPr>
            <a:r>
              <a:rPr sz="1650" b="1">
                <a:solidFill>
                  <a:srgbClr val="0A66C2"/>
                </a:solidFill>
              </a:rPr>
              <a:t>citta.</a:t>
            </a:r>
          </a:p>
        </p:txBody>
      </p:sp>
      <p:sp>
        <p:nvSpPr>
          <p:cNvPr id="7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9ADA033D-73A3-4CC1-9FA6-8069785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48300"/>
            <a:ext cx="1489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FAB0FD01-AB1F-4B72-B95C-62875FC0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5448300"/>
            <a:ext cx="53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1758A"/>
                </a:solidFill>
              </a:defRPr>
            </a:pPr>
            <a:r>
              <a:rPr sz="1650">
                <a:solidFill>
                  <a:srgbClr val="61758A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821026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2026-05-19T19:22:30.4300000Z</dcterms:created>
  <dcterms:modified xsi:type="dcterms:W3CDTF">2026-05-19T19:22:30.4300000Z</dcterms:modified>
</coreProperties>
</file>